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DL" id="{3B490686-3BF9-5466-C8CE-89AB22535081}">
          <p14:sldIdLst>
            <p14:sldId id="256"/>
            <p14:sldId id="257"/>
            <p14:sldId id="258"/>
            <p14:sldId id="26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130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5C937-07E8-B7ED-C817-1C680CB7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675D9-DB00-1145-B9D4-F417E155A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26F8D-CC23-55A1-6711-68CB5C1B7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8519A-5210-E172-2F16-6C841CD8EA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86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U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1325880"/>
            <a:ext cx="9144000" cy="128930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itle panel"/>
          <p:cNvSpPr/>
          <p:nvPr/>
        </p:nvSpPr>
        <p:spPr>
          <a:xfrm>
            <a:off x="310896" y="2651760"/>
            <a:ext cx="8833104" cy="3886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Seal" descr="University s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023360"/>
            <a:ext cx="2560320" cy="2505456"/>
          </a:xfrm>
          <a:prstGeom prst="rect">
            <a:avLst/>
          </a:prstGeom>
        </p:spPr>
      </p:pic>
      <p:sp>
        <p:nvSpPr>
          <p:cNvPr id="5" name="Tab gray"/>
          <p:cNvSpPr/>
          <p:nvPr/>
        </p:nvSpPr>
        <p:spPr>
          <a:xfrm>
            <a:off x="0" y="1325880"/>
            <a:ext cx="292608" cy="128930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ab blue"/>
          <p:cNvSpPr/>
          <p:nvPr/>
        </p:nvSpPr>
        <p:spPr>
          <a:xfrm>
            <a:off x="0" y="2651760"/>
            <a:ext cx="292608" cy="128930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Logos" descr="INFIII and FAU Faculty of Engineering log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"/>
            <a:ext cx="3200400" cy="754380"/>
          </a:xfrm>
          <a:prstGeom prst="rect">
            <a:avLst/>
          </a:prstGeom>
        </p:spPr>
      </p:pic>
      <p:sp>
        <p:nvSpPr>
          <p:cNvPr id="8" name="Text 4"/>
          <p:cNvSpPr>
            <a:spLocks noGrp="1"/>
          </p:cNvSpPr>
          <p:nvPr>
            <p:ph type="title" idx="106" hasCustomPrompt="1"/>
          </p:nvPr>
        </p:nvSpPr>
        <p:spPr>
          <a:xfrm>
            <a:off x="393192" y="1399032"/>
            <a:ext cx="8412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9" name="Text 4"/>
          <p:cNvSpPr>
            <a:spLocks noGrp="1"/>
          </p:cNvSpPr>
          <p:nvPr>
            <p:ph type="body" idx="107" hasCustomPrompt="1"/>
          </p:nvPr>
        </p:nvSpPr>
        <p:spPr>
          <a:xfrm>
            <a:off x="393192" y="2048256"/>
            <a:ext cx="841248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10" name="Text 4"/>
          <p:cNvSpPr>
            <a:spLocks noGrp="1"/>
          </p:cNvSpPr>
          <p:nvPr>
            <p:ph type="body" idx="108" hasCustomPrompt="1"/>
          </p:nvPr>
        </p:nvSpPr>
        <p:spPr>
          <a:xfrm>
            <a:off x="1069848" y="342900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U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 gray"/>
          <p:cNvSpPr/>
          <p:nvPr/>
        </p:nvSpPr>
        <p:spPr>
          <a:xfrm>
            <a:off x="0" y="1316736"/>
            <a:ext cx="292608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ab blue"/>
          <p:cNvSpPr/>
          <p:nvPr/>
        </p:nvSpPr>
        <p:spPr>
          <a:xfrm>
            <a:off x="0" y="1984248"/>
            <a:ext cx="292608" cy="640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Header line"/>
          <p:cNvSpPr/>
          <p:nvPr/>
        </p:nvSpPr>
        <p:spPr>
          <a:xfrm>
            <a:off x="292608" y="644652"/>
            <a:ext cx="8851392" cy="10973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Footer line"/>
          <p:cNvSpPr/>
          <p:nvPr/>
        </p:nvSpPr>
        <p:spPr>
          <a:xfrm>
            <a:off x="301752" y="6569964"/>
            <a:ext cx="8842248" cy="10973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6" name="Logos" descr="INFIII and FAU Faculty of Engineering log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91440"/>
            <a:ext cx="2148840" cy="515722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292608" y="6638544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Rechnerarchitekturen für Deep Learning Anwendungen (RADL)</a:t>
            </a:r>
            <a:endParaRPr lang="en-US" sz="900" dirty="0"/>
          </a:p>
        </p:txBody>
      </p:sp>
      <p:sp>
        <p:nvSpPr>
          <p:cNvPr id="8" name="Footer date"/>
          <p:cNvSpPr txBox="1"/>
          <p:nvPr/>
        </p:nvSpPr>
        <p:spPr>
          <a:xfrm>
            <a:off x="6803136" y="66385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23.10.24</a:t>
            </a:r>
            <a:endParaRPr lang="en-US" sz="900" dirty="0"/>
          </a:p>
        </p:txBody>
      </p:sp>
      <p:sp>
        <p:nvSpPr>
          <p:cNvPr id="9" name="Text 6"/>
          <p:cNvSpPr>
            <a:spLocks noGrp="1"/>
          </p:cNvSpPr>
          <p:nvPr>
            <p:ph type="title" idx="107" hasCustomPrompt="1"/>
          </p:nvPr>
        </p:nvSpPr>
        <p:spPr>
          <a:xfrm>
            <a:off x="557784" y="868680"/>
            <a:ext cx="80467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10" name="Text 6"/>
          <p:cNvSpPr>
            <a:spLocks noGrp="1"/>
          </p:cNvSpPr>
          <p:nvPr>
            <p:ph type="body" idx="108" hasCustomPrompt="1"/>
          </p:nvPr>
        </p:nvSpPr>
        <p:spPr>
          <a:xfrm>
            <a:off x="557784" y="2011680"/>
            <a:ext cx="813816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638544"/>
            <a:ext cx="53035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386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638544"/>
            <a:ext cx="53035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386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6" hasCustomPrompt="1"/>
          </p:nvPr>
        </p:nvSpPr>
        <p:spPr>
          <a:xfrm>
            <a:off x="393192" y="1399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RADL – Rechnerarchitekturen für Deep-Learning</a:t>
            </a:r>
            <a:endParaRPr lang="en-US" sz="2800" dirty="0"/>
          </a:p>
        </p:txBody>
      </p:sp>
      <p:sp>
        <p:nvSpPr>
          <p:cNvPr id="3" name="Text 4"/>
          <p:cNvSpPr>
            <a:spLocks noGrp="1"/>
          </p:cNvSpPr>
          <p:nvPr>
            <p:ph type="body" idx="107" hasCustomPrompt="1"/>
          </p:nvPr>
        </p:nvSpPr>
        <p:spPr>
          <a:xfrm>
            <a:off x="393192" y="204825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Olimjon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Mirzayusupov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Roman </a:t>
            </a: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Riazanov</a:t>
            </a:r>
            <a:endParaRPr lang="en-US" sz="2000" dirty="0"/>
          </a:p>
        </p:txBody>
      </p:sp>
      <p:sp>
        <p:nvSpPr>
          <p:cNvPr id="4" name="Text 4"/>
          <p:cNvSpPr>
            <a:spLocks noGrp="1"/>
          </p:cNvSpPr>
          <p:nvPr>
            <p:ph type="body" idx="108" hasCustomPrompt="1"/>
          </p:nvPr>
        </p:nvSpPr>
        <p:spPr>
          <a:xfrm>
            <a:off x="1069848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/>
              <a:t>FPGA Accelerator</a:t>
            </a:r>
          </a:p>
          <a:p>
            <a:pPr marL="0" indent="0" algn="l">
              <a:buNone/>
            </a:pPr>
            <a:r>
              <a:rPr lang="en-US" dirty="0"/>
              <a:t>For echocardiography 2CH vs. 4CH recognition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7" hasCustomPrompt="1"/>
          </p:nvPr>
        </p:nvSpPr>
        <p:spPr>
          <a:xfrm>
            <a:off x="557784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3200" dirty="0"/>
          </a:p>
        </p:txBody>
      </p:sp>
      <p:sp>
        <p:nvSpPr>
          <p:cNvPr id="3" name="Text 6"/>
          <p:cNvSpPr>
            <a:spLocks noGrp="1"/>
          </p:cNvSpPr>
          <p:nvPr>
            <p:ph type="body" idx="108" hasCustomPrompt="1"/>
          </p:nvPr>
        </p:nvSpPr>
        <p:spPr>
          <a:xfrm>
            <a:off x="557784" y="2011680"/>
            <a:ext cx="8138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 algn="l">
              <a:buSzPct val="100000"/>
              <a:buChar char="•"/>
            </a:pPr>
            <a:r>
              <a:rPr lang="en-US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</a:t>
            </a:r>
          </a:p>
          <a:p>
            <a:pPr marL="1073150" lvl="1" indent="-330200"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2-chamber vs. 4-chamber view recognition for echocardiography frames</a:t>
            </a:r>
          </a:p>
          <a:p>
            <a:pPr marL="1073150" lvl="1" indent="-33020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further processing of the images</a:t>
            </a:r>
          </a:p>
          <a:p>
            <a:pPr marL="1073150" lvl="1" indent="-330200">
              <a:buSzPct val="100000"/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30200" indent="-330200" algn="l">
              <a:spcBef>
                <a:spcPts val="700"/>
              </a:spcBef>
              <a:buSzPct val="10000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CAMUS (~2000 labeled frames)</a:t>
            </a:r>
          </a:p>
          <a:p>
            <a:pPr marL="330200" indent="-330200" algn="l">
              <a:spcBef>
                <a:spcPts val="700"/>
              </a:spcBef>
              <a:buSzPct val="100000"/>
              <a:buChar char="•"/>
            </a:pPr>
            <a:endParaRPr lang="en-US" sz="2400" dirty="0"/>
          </a:p>
          <a:p>
            <a:pPr marL="330200" indent="-330200" algn="l">
              <a:spcBef>
                <a:spcPts val="700"/>
              </a:spcBef>
              <a:buSzPct val="10000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Application?</a:t>
            </a:r>
            <a:endParaRPr lang="en-US" sz="2400" dirty="0"/>
          </a:p>
          <a:p>
            <a:pPr marL="889000" lvl="1" indent="-342900" algn="l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</a:t>
            </a:r>
          </a:p>
          <a:p>
            <a:pPr marL="889000" lvl="1" indent="-342900" algn="l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application</a:t>
            </a:r>
          </a:p>
          <a:p>
            <a:pPr marL="889000" lvl="1" indent="-342900" algn="l">
              <a:spcBef>
                <a:spcPts val="600"/>
              </a:spcBef>
              <a:buSzPct val="100000"/>
              <a:buChar char="•"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638544"/>
            <a:ext cx="53035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386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7" hasCustomPrompt="1"/>
          </p:nvPr>
        </p:nvSpPr>
        <p:spPr>
          <a:xfrm>
            <a:off x="557784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Architecture</a:t>
            </a:r>
            <a:endParaRPr lang="en-US" sz="3200" dirty="0"/>
          </a:p>
        </p:txBody>
      </p:sp>
      <p:sp>
        <p:nvSpPr>
          <p:cNvPr id="3" name="Text 6"/>
          <p:cNvSpPr>
            <a:spLocks noGrp="1"/>
          </p:cNvSpPr>
          <p:nvPr>
            <p:ph type="body" idx="108" hasCustomPrompt="1"/>
          </p:nvPr>
        </p:nvSpPr>
        <p:spPr>
          <a:xfrm>
            <a:off x="557784" y="2011680"/>
            <a:ext cx="8138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 algn="l">
              <a:buSzPct val="10000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Hardware?</a:t>
            </a:r>
            <a:endParaRPr lang="en-US" sz="2400" dirty="0"/>
          </a:p>
          <a:p>
            <a:pPr marL="889000" lvl="1" indent="-342900" algn="l">
              <a:spcBef>
                <a:spcPts val="300"/>
              </a:spcBef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</a:t>
            </a:r>
          </a:p>
          <a:p>
            <a:pPr marL="889000" lvl="1" indent="-342900" algn="l">
              <a:spcBef>
                <a:spcPts val="300"/>
              </a:spcBef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(CPU)</a:t>
            </a:r>
          </a:p>
          <a:p>
            <a:pPr marL="889000" lvl="1" indent="-342900" algn="l">
              <a:spcBef>
                <a:spcPts val="300"/>
              </a:spcBef>
              <a:buSzPct val="100000"/>
              <a:buChar char="•"/>
            </a:pPr>
            <a:endParaRPr lang="en-US" sz="1800" dirty="0">
              <a:solidFill>
                <a:schemeClr val="tx2"/>
              </a:solidFill>
              <a:latin typeface="Arial" pitchFamily="34" charset="0"/>
              <a:cs typeface="Arial" pitchFamily="34" charset="-120"/>
            </a:endParaRPr>
          </a:p>
          <a:p>
            <a:pPr marL="889000" lvl="1" indent="-342900" algn="l">
              <a:spcBef>
                <a:spcPts val="300"/>
              </a:spcBef>
              <a:buSzPct val="100000"/>
              <a:buChar char="•"/>
            </a:pPr>
            <a:endParaRPr lang="en-US" sz="3200" dirty="0"/>
          </a:p>
          <a:p>
            <a:pPr marL="330200" indent="-330200" algn="l">
              <a:spcBef>
                <a:spcPts val="2400"/>
              </a:spcBef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Device(s) exactly?</a:t>
            </a:r>
            <a:endParaRPr lang="en-US" sz="2400" dirty="0"/>
          </a:p>
          <a:p>
            <a:pPr marL="889000" lvl="1" indent="-342900" algn="l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Avnet Ultra96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638544"/>
            <a:ext cx="53035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386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D607D-5129-8984-C8F2-F6A69A65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>
            <a:extLst>
              <a:ext uri="{FF2B5EF4-FFF2-40B4-BE49-F238E27FC236}">
                <a16:creationId xmlns:a16="http://schemas.microsoft.com/office/drawing/2014/main" id="{0141471A-8168-D967-DF2C-31567C29009F}"/>
              </a:ext>
            </a:extLst>
          </p:cNvPr>
          <p:cNvSpPr>
            <a:spLocks noGrp="1"/>
          </p:cNvSpPr>
          <p:nvPr>
            <p:ph type="title" idx="107" hasCustomPrompt="1"/>
          </p:nvPr>
        </p:nvSpPr>
        <p:spPr>
          <a:xfrm>
            <a:off x="557784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E83EE66F-91D7-9154-06DF-FADC18BE8743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557784" y="2011680"/>
            <a:ext cx="8138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 algn="l">
              <a:buSzPct val="10000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final result?</a:t>
            </a:r>
            <a:endParaRPr lang="en-US" sz="2400" dirty="0"/>
          </a:p>
          <a:p>
            <a:pPr marL="889000" lvl="1" indent="-342900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FPGA accelerator</a:t>
            </a:r>
          </a:p>
          <a:p>
            <a:pPr marL="889000" lvl="1" indent="-342900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C framework using the accelerator</a:t>
            </a:r>
          </a:p>
          <a:p>
            <a:pPr marL="889000" lvl="1" indent="-342900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of </a:t>
            </a: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Performance / Resource Consumption / (Accuracy)</a:t>
            </a:r>
          </a:p>
          <a:p>
            <a:pPr marL="889000" lvl="1" indent="-342900">
              <a:spcBef>
                <a:spcPts val="600"/>
              </a:spcBef>
              <a:buSzPct val="100000"/>
              <a:buChar char="•"/>
            </a:pPr>
            <a:endParaRPr lang="en-US" sz="2400" dirty="0"/>
          </a:p>
          <a:p>
            <a:pPr marL="330200" indent="-330200" algn="l">
              <a:spcBef>
                <a:spcPts val="700"/>
              </a:spcBef>
              <a:buSzPct val="10000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Accelerator Architecture?</a:t>
            </a:r>
          </a:p>
          <a:p>
            <a:pPr marL="1073150" lvl="1" indent="-330200"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Offload only the convolutions, then add BRAM buffering, parallelism, pipelining, etc. as optimizations</a:t>
            </a:r>
          </a:p>
          <a:p>
            <a:pPr marL="1073150" lvl="1" indent="-330200"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Output-stationary, output-parallel PE array</a:t>
            </a:r>
          </a:p>
          <a:p>
            <a:pPr marL="1073150" lvl="1" indent="-330200">
              <a:spcBef>
                <a:spcPts val="7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FSM as controller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00CCB82-4E4F-8AF7-5FB0-6C97990862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6638544"/>
            <a:ext cx="53035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386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3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7" hasCustomPrompt="1"/>
          </p:nvPr>
        </p:nvSpPr>
        <p:spPr>
          <a:xfrm>
            <a:off x="557784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Responsibilities</a:t>
            </a:r>
            <a:endParaRPr lang="en-US" sz="3200" dirty="0"/>
          </a:p>
        </p:txBody>
      </p:sp>
      <p:sp>
        <p:nvSpPr>
          <p:cNvPr id="3" name="Text 6"/>
          <p:cNvSpPr>
            <a:spLocks noGrp="1"/>
          </p:cNvSpPr>
          <p:nvPr>
            <p:ph type="body" idx="108" hasCustomPrompt="1"/>
          </p:nvPr>
        </p:nvSpPr>
        <p:spPr>
          <a:xfrm>
            <a:off x="557784" y="2011680"/>
            <a:ext cx="8138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 algn="l">
              <a:spcBef>
                <a:spcPts val="700"/>
              </a:spcBef>
              <a:buSzPct val="10000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implements which Parts:</a:t>
            </a:r>
            <a:endParaRPr lang="en-US" sz="2400" dirty="0"/>
          </a:p>
          <a:p>
            <a:pPr marL="889000" lvl="1" indent="-342900" algn="l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VHDL implementation of the accelerator</a:t>
            </a:r>
          </a:p>
          <a:p>
            <a:pPr marL="1289050" lvl="2" indent="-342900">
              <a:spcBef>
                <a:spcPts val="600"/>
              </a:spcBef>
              <a:buSzPct val="100000"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A: Compute engine</a:t>
            </a:r>
          </a:p>
          <a:p>
            <a:pPr marL="1289050" lvl="2" indent="-342900">
              <a:spcBef>
                <a:spcPts val="600"/>
              </a:spcBef>
              <a:buSzPct val="100000"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B: Memory system &amp; data movement</a:t>
            </a:r>
          </a:p>
          <a:p>
            <a:pPr marL="1289050" lvl="2" indent="-342900">
              <a:spcBef>
                <a:spcPts val="600"/>
              </a:spcBef>
              <a:buSzPct val="100000"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TODO: decide who does what exactly</a:t>
            </a:r>
          </a:p>
          <a:p>
            <a:pPr marL="889000" lvl="1" indent="-342900" algn="l">
              <a:spcBef>
                <a:spcPts val="600"/>
              </a:spcBef>
              <a:buSzPct val="100000"/>
              <a:buChar char="•"/>
            </a:pPr>
            <a:r>
              <a:rPr lang="en-US" sz="2000" dirty="0" err="1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Olimjon</a:t>
            </a: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System Integration</a:t>
            </a:r>
          </a:p>
          <a:p>
            <a:pPr marL="889000" lvl="1" indent="-342900" algn="l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Roman: Benchmarking</a:t>
            </a:r>
            <a:endParaRPr lang="en-US" sz="1600" dirty="0">
              <a:solidFill>
                <a:schemeClr val="tx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89000" lvl="1" indent="-342900" algn="l">
              <a:spcBef>
                <a:spcPts val="600"/>
              </a:spcBef>
              <a:buSzPct val="100000"/>
              <a:buChar char="•"/>
            </a:pPr>
            <a:endParaRPr lang="en-US" sz="2000" dirty="0">
              <a:solidFill>
                <a:schemeClr val="tx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89000" lvl="1" indent="-342900" algn="l">
              <a:spcBef>
                <a:spcPts val="600"/>
              </a:spcBef>
              <a:buSzPct val="100000"/>
              <a:buChar char="•"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638544"/>
            <a:ext cx="53035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386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U RADL">
  <a:themeElements>
    <a:clrScheme name="FAU RADL">
      <a:dk1>
        <a:srgbClr val="000000"/>
      </a:dk1>
      <a:lt1>
        <a:srgbClr val="FFFFFF"/>
      </a:lt1>
      <a:dk2>
        <a:srgbClr val="003865"/>
      </a:dk2>
      <a:lt2>
        <a:srgbClr val="98A4AE"/>
      </a:lt2>
      <a:accent1>
        <a:srgbClr val="003865"/>
      </a:accent1>
      <a:accent2>
        <a:srgbClr val="98A4AE"/>
      </a:accent2>
      <a:accent3>
        <a:srgbClr val="E30613"/>
      </a:accent3>
      <a:accent4>
        <a:srgbClr val="5E7F95"/>
      </a:accent4>
      <a:accent5>
        <a:srgbClr val="C9D1D6"/>
      </a:accent5>
      <a:accent6>
        <a:srgbClr val="00A0B0"/>
      </a:accent6>
      <a:hlink>
        <a:srgbClr val="003865"/>
      </a:hlink>
      <a:folHlink>
        <a:srgbClr val="5E7F95"/>
      </a:folHlink>
    </a:clrScheme>
    <a:fontScheme name="FAU RAD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Bildschirmpräsentation (4:3)</PresentationFormat>
  <Paragraphs>49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Wingdings</vt:lpstr>
      <vt:lpstr>FAU RADL</vt:lpstr>
      <vt:lpstr>RADL – Rechnerarchitekturen für Deep-Learning</vt:lpstr>
      <vt:lpstr>Application</vt:lpstr>
      <vt:lpstr>Targeted Architecture</vt:lpstr>
      <vt:lpstr>Approach</vt:lpstr>
      <vt:lpstr>Responsibilities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RADL project presentation</dc:title>
  <dc:subject>PptxGenJS Presentation</dc:subject>
  <dc:creator>PptxGenJS</dc:creator>
  <cp:lastModifiedBy>Roman Riazanоv</cp:lastModifiedBy>
  <cp:revision>4</cp:revision>
  <dcterms:created xsi:type="dcterms:W3CDTF">2026-10-25T10:02:15Z</dcterms:created>
  <dcterms:modified xsi:type="dcterms:W3CDTF">2026-10-27T11:33:28Z</dcterms:modified>
</cp:coreProperties>
</file>